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38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5B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0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Workshop.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E8D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exercises that change how you use AI on client work.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457200"/>
            <a:ext cx="1737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1000" dirty="0">
                <a:solidFill>
                  <a:srgbClr val="1F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  <a:p>
            <a:pPr marL="0" indent="0" algn="r">
              <a:lnSpc>
                <a:spcPct val="95000"/>
              </a:lnSpc>
              <a:buNone/>
            </a:pPr>
            <a:r>
              <a:rPr lang="en-US" sz="11000" dirty="0">
                <a:solidFill>
                  <a:srgbClr val="1F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  <a:p>
            <a:pPr marL="0" indent="0" algn="r">
              <a:lnSpc>
                <a:spcPct val="95000"/>
              </a:lnSpc>
              <a:buNone/>
            </a:pPr>
            <a:r>
              <a:rPr lang="en-US" sz="11000" dirty="0">
                <a:solidFill>
                  <a:srgbClr val="1F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tamid-consulting-ai-playbook.vercel.app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43708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TAMID Consulting AI Playbook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Self-paced. Roughly 30 minutes.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this deck on a tab or different screen. Run the exercises on your laptop. Each exercise tells you exactly what to 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33472" cy="1490472"/>
          </a:xfrm>
          <a:prstGeom prst="roundRect">
            <a:avLst>
              <a:gd name="adj" fmla="val 9032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871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90779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Read the slide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321868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exercise is one to three slides. Read the framing first.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55264" y="2194560"/>
            <a:ext cx="2633472" cy="1490472"/>
          </a:xfrm>
          <a:prstGeom prst="roundRect">
            <a:avLst>
              <a:gd name="adj" fmla="val 9032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48716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90779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Run the exercise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47872" y="321868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suggested tool. Paste the prompt. Don't skip ahead.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53328" y="2194560"/>
            <a:ext cx="2633472" cy="1490472"/>
          </a:xfrm>
          <a:prstGeom prst="roundRect">
            <a:avLst>
              <a:gd name="adj" fmla="val 9032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248716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45936" y="290779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Grade the output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45936" y="321868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exercise has a rubric. The grading is the lesson.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need: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19456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or Claude (free) · one frontier model (paid or trial) · Perplexity · NotebookLM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How to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</a:rPr>
              <a:t>The three ways teams fail to use AI effectively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show up in nearly every consulting group. The exercises target each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33472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5786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Choice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99923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default to whichever interface they heard about first — not the right tool for the task. Free tier becomes the default by accident.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5264" y="2286000"/>
            <a:ext cx="2633472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9584" y="25786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584" y="2578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Discipline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9584" y="299923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go into decks unsourced. Hallucinated stats survive into client deliverables because no one double-checked.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2286000"/>
            <a:ext cx="2633472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27648" y="25786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7648" y="2578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7648" y="299923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ranges from excellent to obviously generic — sometimes within a single project, depending on who wrote which prompt.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The premise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exercises. Three lessons.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exercise makes one specific point you'll actually remember the next time you sit down to do real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33472" cy="2377440"/>
          </a:xfrm>
          <a:prstGeom prst="roundRect">
            <a:avLst>
              <a:gd name="adj" fmla="val 5385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359152"/>
            <a:ext cx="502920" cy="50292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vs. Frontier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gap between a free model with a lazy prompt and a frontier model with a structured 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 w="635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55264" y="2194560"/>
            <a:ext cx="2633472" cy="2377440"/>
          </a:xfrm>
          <a:prstGeom prst="roundRect">
            <a:avLst>
              <a:gd name="adj" fmla="val 5385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9584" y="2359152"/>
            <a:ext cx="502920" cy="50292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9584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9584" y="293522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29584" y="33375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 AI agent open thirty sources and produce a cited report. Days of desk work in fifteen minutes.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29584" y="41148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 w="635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9584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 (mostly waiting)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53328" y="2194560"/>
            <a:ext cx="2633472" cy="2377440"/>
          </a:xfrm>
          <a:prstGeom prst="roundRect">
            <a:avLst>
              <a:gd name="adj" fmla="val 5385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27648" y="2359152"/>
            <a:ext cx="502920" cy="50292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27648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27648" y="293522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+ NotebookLM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27648" y="34381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for experts you can't actually access — then synthesize without hallucination.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27648" y="41148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 w="635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27648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Three exercises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vs. Frontier.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company, same task, three configurations — designed to separate model quality from prompt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2441448"/>
          </a:xfrm>
          <a:prstGeom prst="roundRect">
            <a:avLst>
              <a:gd name="adj" fmla="val 5490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Wilkin's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2735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Israeli plant-based protein startup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considering US market entry.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budget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0" y="3886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$2M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087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4087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primary US channel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2885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today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4288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(TAM / SAM / SOM)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4023360" cy="2441448"/>
          </a:xfrm>
          <a:prstGeom prst="roundRect">
            <a:avLst>
              <a:gd name="adj" fmla="val 5490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761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same task three ways.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holding the case constant and varying the model and the prompt independently, you'll see which one is doing the work — and how much each axis matters.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Exercise 01 · Setup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all three. Save every output.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33472" cy="2606040"/>
          </a:xfrm>
          <a:prstGeom prst="roundRect">
            <a:avLst>
              <a:gd name="adj" fmla="val 4912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FREE + LAZY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free tier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8437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Gemini 2.5 Flash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"Size the US plant-based protein market for an Israeli startup."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1874520"/>
            <a:ext cx="2633472" cy="2606040"/>
          </a:xfrm>
          <a:prstGeom prst="roundRect">
            <a:avLst>
              <a:gd name="adj" fmla="val 4912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83864" y="2103120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83864" y="21031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FRONTIER + LAZY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83864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 4.7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83864" y="28437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Gemini 3.1 Pro / GPT-5.5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83864" y="320040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83864" y="342900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"Size the US plant-based protein market for an Israeli startup."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1874520"/>
            <a:ext cx="2633472" cy="2606040"/>
          </a:xfrm>
          <a:prstGeom prst="roundRect">
            <a:avLst>
              <a:gd name="adj" fmla="val 4912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81928" y="2066544"/>
            <a:ext cx="2176272" cy="329184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1928" y="21031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FRONTIER + PLAYBOOK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81928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 4.7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81928" y="28437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as B)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81928" y="320040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81928" y="342900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the full Market Sizing prompt from the playbook — TAM / SAM / SOM, both methods, assumption table with source grades, flag the three weakest assumptions.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all three outputs. The next slide is the rubric.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Exercise 01 · Run 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each output on three things.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658368"/>
          </a:xfrm>
          <a:prstGeom prst="roundRect">
            <a:avLst>
              <a:gd name="adj" fmla="val 19444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906524"/>
            <a:ext cx="411480" cy="41148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9065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1305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sources named? Is there a TAM number with units, year, geography? Or just adjectives like 'large' and 'growing'?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8229600" cy="658368"/>
          </a:xfrm>
          <a:prstGeom prst="roundRect">
            <a:avLst>
              <a:gd name="adj" fmla="val 19444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674620"/>
            <a:ext cx="411480" cy="41148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6746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8986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cited statistic and search for it. Does the source exist? Does it actually say what the model claims?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8229600" cy="658368"/>
          </a:xfrm>
          <a:prstGeom prst="roundRect">
            <a:avLst>
              <a:gd name="adj" fmla="val 19444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3232" y="3442716"/>
            <a:ext cx="411480" cy="41148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4427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6667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client asks, "where did that number come from?" Could the answer survive thirty seconds of pushback?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pattern → </a:t>
            </a:r>
            <a:r>
              <a:rPr lang="en-US" sz="11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generic. B is polished but vague. C is the only one that holds up. The lesson is on the next slide.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Exercise 01 · Rubric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 — pick one, kick it off.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opens 30+ sources, reads them, and writes a cited report. Three tools. One task.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2633472" cy="1508760"/>
          </a:xfrm>
          <a:prstGeom prst="roundRect">
            <a:avLst>
              <a:gd name="adj" fmla="val 8485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35000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255117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2971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26440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reasoning. Slowest. Most thorough citations.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55264" y="2130552"/>
            <a:ext cx="2633472" cy="1508760"/>
          </a:xfrm>
          <a:prstGeom prst="roundRect">
            <a:avLst>
              <a:gd name="adj" fmla="val 8485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11296" y="235000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11296" y="255117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511296" y="2971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11296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11296" y="326440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output. Integrates natively with Google Docs.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130552"/>
            <a:ext cx="2633472" cy="1508760"/>
          </a:xfrm>
          <a:prstGeom prst="roundRect">
            <a:avLst>
              <a:gd name="adj" fmla="val 8485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235000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09360" y="255117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Perplexity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309360" y="2971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min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326440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Fastest. Cleanest citations. Best for time-pressured work.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14000"/>
            </a:avLst>
          </a:prstGeom>
          <a:solidFill>
            <a:srgbClr val="0F1729"/>
          </a:solidFill>
          <a:ln w="9525">
            <a:solidFill>
              <a:srgbClr val="0F1729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39867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B8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PROMPT IN ONE OF THE TOOLS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41879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 the top 5 US retail chains carrying premium plant-based protein. Include shelf placement strategy, pricing tiers, and onboarding requirements for new SKUs. Cite every claim."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Exercise 02 · Deep Research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report critically.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it's running, start Exercise 3. Come back when it's done and grade on these four things.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566928"/>
          </a:xfrm>
          <a:prstGeom prst="roundRect">
            <a:avLst>
              <a:gd name="adj" fmla="val 22581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965960"/>
            <a:ext cx="384048" cy="384048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47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density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unique sources. Under 10 is shallow. 25+ is what the tool is built for.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8229600" cy="566928"/>
          </a:xfrm>
          <a:prstGeom prst="roundRect">
            <a:avLst>
              <a:gd name="adj" fmla="val 22581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" y="2642616"/>
            <a:ext cx="384048" cy="384048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24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quality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670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reports and primary news outlets, or random blog posts and forum threads?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27832"/>
            <a:ext cx="8229600" cy="566928"/>
          </a:xfrm>
          <a:prstGeom prst="roundRect">
            <a:avLst>
              <a:gd name="adj" fmla="val 22581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3232" y="3319272"/>
            <a:ext cx="384048" cy="384048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33467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answer all three parts of the prompt — chains, placement, pricing — or only one?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04488"/>
            <a:ext cx="8229600" cy="566928"/>
          </a:xfrm>
          <a:prstGeom prst="roundRect">
            <a:avLst>
              <a:gd name="adj" fmla="val 22581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3232" y="3995928"/>
            <a:ext cx="384048" cy="384048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check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044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citation at random. Open the URL. Does the source actually say what the report claims?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→ </a:t>
            </a:r>
            <a:r>
              <a:rPr lang="en-US" sz="10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you produce in 15 minutes of manual desk research?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Exercise 02 · Grade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an expert who doesn't exist.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teams rarely access real industry experts. A frontier model, framed correctly, is a serviceable stand-in for structure and instinct.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2240280"/>
          </a:xfrm>
          <a:prstGeom prst="roundRect">
            <a:avLst>
              <a:gd name="adj" fmla="val 5714"/>
            </a:avLst>
          </a:prstGeom>
          <a:solidFill>
            <a:srgbClr val="0F1729"/>
          </a:solidFill>
          <a:ln w="9525">
            <a:solidFill>
              <a:srgbClr val="0F1729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B8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— paste into Claude Opus 4.7 or GPT-5.5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20-year veteran VP of retail strategy at a major US grocery chain.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You've personally led decisions on shelf-space allocation for emerging food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including plant-based proteins.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I'm a consultant for an Israeli plant-based protein startup considering 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entry. I'm going to interview you for 10 minutes.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in character, with the tactical detail a VP would actually know.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back when my framing is naive. Begin by asking what aspect I want 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A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into first.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the interview </a:t>
            </a:r>
            <a:r>
              <a:rPr lang="en-US" sz="10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ask 5–7 follow-up questions → save the full transcript. Next slide: synthesis.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Exercise 03 · Interview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Synthesize in NotebookLM.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won't make claims outside the source set you upload. That's exactly what you want for synthesis.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7856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368296"/>
            <a:ext cx="502920" cy="50292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68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Gather sources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55848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transcript + Perplexity output (Ex 02) + any industry reports your team already has.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3072" y="2194560"/>
            <a:ext cx="2657856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5952" y="2368296"/>
            <a:ext cx="502920" cy="50292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5952" y="2368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5952" y="2980944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to NotebookLM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5952" y="3355848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notebooklm.google.com → New Notebook → drop everything in. Paste long text directly.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8944" y="2194560"/>
            <a:ext cx="2657856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1824" y="2368296"/>
            <a:ext cx="502920" cy="502920"/>
          </a:xfrm>
          <a:prstGeom prst="ellipse">
            <a:avLst/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1824" y="2368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1824" y="2980944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synthesis prompts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1824" y="3355848"/>
            <a:ext cx="214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most important findings, quote each verbatim, grade A/B/C, flag contradictions across sources."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NotebookLM specifically → </a:t>
            </a:r>
            <a:r>
              <a:rPr lang="en-US" sz="105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synthesis. The most underused tool in TAMID, and the right one for any project that digests more than three documents.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Exercise 03 · Synthesis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pattern has limits.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fake-expert technique substitutes for structure and instinct — not for primary data. Knowing the difference is the discipline.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023360" cy="2194560"/>
          </a:xfrm>
          <a:prstGeom prst="roundRect">
            <a:avLst>
              <a:gd name="adj" fmla="val 5833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514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5E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514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2953512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→ how to think about a problem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Instincts → which tradeoffs the pros actually weigh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→ what questions to ask the real client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Pressure-testing → red-team your own thesis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4023360" cy="2194560"/>
          </a:xfrm>
          <a:prstGeom prst="roundRect">
            <a:avLst>
              <a:gd name="adj" fmla="val 5833"/>
            </a:avLst>
          </a:prstGeom>
          <a:solidFill>
            <a:srgbClr val="FAF7EF"/>
          </a:solidFill>
          <a:ln w="9525">
            <a:solidFill>
              <a:srgbClr val="E5DFD0"/>
            </a:solidFill>
            <a:prstDash val="solid"/>
          </a:ln>
          <a:effectLst>
            <a:outerShdw blurRad="177800" dist="381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19472" y="25146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2514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9472" y="2953512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numbers (slotting fees, market shares)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you'd cite in a deck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— talk to a real human if it matters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the model can't actually verify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test → </a:t>
            </a:r>
            <a:r>
              <a:rPr lang="en-US" sz="10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"expert" for an exact number a real VP would know. If it gives you one confidently, that's the failure mode.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Exercise 03 · Limits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E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0" dirty="0">
                <a:solidFill>
                  <a:srgbClr val="3F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just learned.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takeaways. Each one is in the playbook in more depth — bookmark it.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87452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matters.  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are a different category, not just better. Default to a paid tier when stakes are real.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468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quality is a separate axis.  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frontier model produces vague output with a lazy prompt. The library exists so you don't reinvent this.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468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30632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collapses days into minutes.  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 for the question. Speed vs. depth vs. citation quality is a real tradeoff.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904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65760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experts substitute for inaccessible expertise.  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technique for structure and instinct — not for numbers you'd actually cite.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425196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is grounded synthesis.  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more than three sources, this is the right tool. It won't hallucinate outside the set.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 AI Workshop · Recap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5B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 CONSULTING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playbook the next time you sit down to do real client work.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C19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tamid-consulting-ai-playbook.vercel.app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8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 · The prompt library · The rollout guide — all linked from the homepage.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AF7E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AF7E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1633</Words>
  <Application>Microsoft Macintosh PowerPoint</Application>
  <PresentationFormat>On-screen Show (16:9)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TAMID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TAMID Consulting AI Workshop</dc:title>
  <dc:subject>PptxGenJS Presentation</dc:subject>
  <dc:creator>TAMID Consulting</dc:creator>
  <cp:lastModifiedBy>Yahel Raviv</cp:lastModifiedBy>
  <cp:revision>2</cp:revision>
  <dcterms:created xsi:type="dcterms:W3CDTF">2026-04-29T23:29:41Z</dcterms:created>
  <dcterms:modified xsi:type="dcterms:W3CDTF">2026-04-30T05:19:50Z</dcterms:modified>
</cp:coreProperties>
</file>